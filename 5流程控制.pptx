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" ContentType="image/tif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2"/>
  </p:sldMasterIdLst>
  <p:notesMasterIdLst>
    <p:notesMasterId r:id="rId31"/>
  </p:notesMasterIdLst>
  <p:handoutMasterIdLst>
    <p:handoutMasterId r:id="rId32"/>
  </p:handoutMasterIdLst>
  <p:sldIdLst>
    <p:sldId id="256" r:id="rId3"/>
    <p:sldId id="435" r:id="rId4"/>
    <p:sldId id="436" r:id="rId5"/>
    <p:sldId id="437" r:id="rId6"/>
    <p:sldId id="438" r:id="rId7"/>
    <p:sldId id="439" r:id="rId8"/>
    <p:sldId id="440" r:id="rId9"/>
    <p:sldId id="441" r:id="rId10"/>
    <p:sldId id="442" r:id="rId11"/>
    <p:sldId id="443" r:id="rId12"/>
    <p:sldId id="444" r:id="rId13"/>
    <p:sldId id="445" r:id="rId14"/>
    <p:sldId id="446" r:id="rId15"/>
    <p:sldId id="447" r:id="rId16"/>
    <p:sldId id="448" r:id="rId17"/>
    <p:sldId id="449" r:id="rId18"/>
    <p:sldId id="450" r:id="rId19"/>
    <p:sldId id="451" r:id="rId20"/>
    <p:sldId id="452" r:id="rId21"/>
    <p:sldId id="453" r:id="rId22"/>
    <p:sldId id="454" r:id="rId23"/>
    <p:sldId id="455" r:id="rId24"/>
    <p:sldId id="456" r:id="rId25"/>
    <p:sldId id="462" r:id="rId26"/>
    <p:sldId id="463" r:id="rId27"/>
    <p:sldId id="464" r:id="rId28"/>
    <p:sldId id="465" r:id="rId29"/>
    <p:sldId id="46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1603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77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TW" sz="1200"/>
            </a:lvl1pPr>
          </a:lstStyle>
          <a:p>
            <a:fld id="{FD9D2DDA-69D8-473F-A583-B6774B31A77B}" type="datetimeFigureOut">
              <a:rPr lang="en-US" altLang="zh-TW"/>
              <a:t>10/9/2025</a:t>
            </a:fld>
            <a:endParaRPr 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TW" sz="1200"/>
            </a:lvl1pPr>
          </a:lstStyle>
          <a:p>
            <a:fld id="{02392CCB-FF08-4D29-8DA3-E1FD86044808}" type="slidenum">
              <a:rPr lang="zh-TW"/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662153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TW" sz="1200"/>
            </a:lvl1pPr>
          </a:lstStyle>
          <a:p>
            <a:fld id="{A01F6DFB-6833-46E4-B515-70E0D9178056}" type="datetimeFigureOut">
              <a:t>2025/10/9</a:t>
            </a:fld>
            <a:endParaRPr lang="zh-TW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TW" sz="1200"/>
            </a:lvl1pPr>
          </a:lstStyle>
          <a:p>
            <a:fld id="{958706C7-F2C3-48B6-8A22-C484D800B5D4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599506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1" y="1905000"/>
            <a:ext cx="12188826" cy="3200400"/>
          </a:xfrm>
          <a:prstGeom prst="rect">
            <a:avLst/>
          </a:prstGeom>
          <a:gradFill flip="none" rotWithShape="1">
            <a:gsLst>
              <a:gs pos="100000">
                <a:schemeClr val="accent1">
                  <a:alpha val="50000"/>
                </a:schemeClr>
              </a:gs>
              <a:gs pos="0">
                <a:schemeClr val="accent1">
                  <a:lumMod val="60000"/>
                  <a:lumOff val="4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/>
          </a:p>
        </p:txBody>
      </p:sp>
      <p:sp>
        <p:nvSpPr>
          <p:cNvPr id="10" name="矩形 9"/>
          <p:cNvSpPr/>
          <p:nvPr/>
        </p:nvSpPr>
        <p:spPr>
          <a:xfrm>
            <a:off x="-2" y="1795132"/>
            <a:ext cx="12188826" cy="73152"/>
          </a:xfrm>
          <a:prstGeom prst="rect">
            <a:avLst/>
          </a:prstGeom>
          <a:gradFill flip="none" rotWithShape="1">
            <a:gsLst>
              <a:gs pos="100000">
                <a:schemeClr val="accent1">
                  <a:alpha val="80000"/>
                </a:schemeClr>
              </a:gs>
              <a:gs pos="0">
                <a:schemeClr val="accent1">
                  <a:lumMod val="60000"/>
                  <a:lumOff val="40000"/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/>
          </a:p>
        </p:txBody>
      </p:sp>
      <p:sp>
        <p:nvSpPr>
          <p:cNvPr id="11" name="矩形 10"/>
          <p:cNvSpPr/>
          <p:nvPr/>
        </p:nvSpPr>
        <p:spPr>
          <a:xfrm>
            <a:off x="-2" y="5142116"/>
            <a:ext cx="12188826" cy="73152"/>
          </a:xfrm>
          <a:prstGeom prst="rect">
            <a:avLst/>
          </a:prstGeom>
          <a:gradFill flip="none" rotWithShape="1">
            <a:gsLst>
              <a:gs pos="100000">
                <a:schemeClr val="accent1">
                  <a:alpha val="80000"/>
                </a:schemeClr>
              </a:gs>
              <a:gs pos="0">
                <a:schemeClr val="accent1">
                  <a:lumMod val="60000"/>
                  <a:lumOff val="40000"/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295400" y="2079812"/>
            <a:ext cx="9601200" cy="1724092"/>
          </a:xfrm>
        </p:spPr>
        <p:txBody>
          <a:bodyPr anchor="b"/>
          <a:lstStyle>
            <a:lvl1pPr algn="ctr" latinLnBrk="0">
              <a:defRPr lang="zh-TW" sz="5400"/>
            </a:lvl1pPr>
          </a:lstStyle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95400" y="3959352"/>
            <a:ext cx="9601200" cy="914400"/>
          </a:xfrm>
        </p:spPr>
        <p:txBody>
          <a:bodyPr>
            <a:normAutofit/>
          </a:bodyPr>
          <a:lstStyle>
            <a:lvl1pPr marL="0" indent="0" algn="ctr" latinLnBrk="0">
              <a:spcBef>
                <a:spcPts val="0"/>
              </a:spcBef>
              <a:buNone/>
              <a:defRPr lang="zh-TW" sz="2000"/>
            </a:lvl1pPr>
            <a:lvl2pPr marL="457200" indent="0" algn="ctr" latinLnBrk="0">
              <a:buNone/>
              <a:defRPr lang="zh-TW" sz="2800"/>
            </a:lvl2pPr>
            <a:lvl3pPr marL="914400" indent="0" algn="ctr" latinLnBrk="0">
              <a:buNone/>
              <a:defRPr lang="zh-TW" sz="2400"/>
            </a:lvl3pPr>
            <a:lvl4pPr marL="1371600" indent="0" algn="ctr" latinLnBrk="0">
              <a:buNone/>
              <a:defRPr lang="zh-TW" sz="2000"/>
            </a:lvl4pPr>
            <a:lvl5pPr marL="1828800" indent="0" algn="ctr" latinLnBrk="0">
              <a:buNone/>
              <a:defRPr lang="zh-TW" sz="2000"/>
            </a:lvl5pPr>
            <a:lvl6pPr marL="2286000" indent="0" algn="ctr" latinLnBrk="0">
              <a:buNone/>
              <a:defRPr lang="zh-TW" sz="2000"/>
            </a:lvl6pPr>
            <a:lvl7pPr marL="2743200" indent="0" algn="ctr" latinLnBrk="0">
              <a:buNone/>
              <a:defRPr lang="zh-TW" sz="2000"/>
            </a:lvl7pPr>
            <a:lvl8pPr marL="3200400" indent="0" algn="ctr" latinLnBrk="0">
              <a:buNone/>
              <a:defRPr lang="zh-TW" sz="2000"/>
            </a:lvl8pPr>
            <a:lvl9pPr marL="3657600" indent="0" algn="ctr" latinLnBrk="0">
              <a:buNone/>
              <a:defRPr lang="zh-TW" sz="2000"/>
            </a:lvl9pPr>
          </a:lstStyle>
          <a:p>
            <a:r>
              <a:rPr lang="zh-TW" altLang="en-US" smtClean="0"/>
              <a:t>按一下以編輯母片副標題樣式</a:t>
            </a:r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985752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5pPr latinLnBrk="0">
              <a:defRPr lang="zh-TW"/>
            </a:lvl5pPr>
            <a:lvl6pPr latinLnBrk="0">
              <a:defRPr lang="zh-TW"/>
            </a:lvl6pPr>
            <a:lvl7pPr latinLnBrk="0">
              <a:defRPr lang="zh-TW"/>
            </a:lvl7pPr>
            <a:lvl8pPr latinLnBrk="0">
              <a:defRPr lang="zh-TW"/>
            </a:lvl8pPr>
            <a:lvl9pPr latinLnBrk="0">
              <a:defRPr lang="zh-TW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2025/10/9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4217319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gradFill rotWithShape="1">
          <a:gsLst>
            <a:gs pos="100000">
              <a:schemeClr val="accent1">
                <a:alpha val="80000"/>
              </a:schemeClr>
            </a:gs>
            <a:gs pos="0">
              <a:schemeClr val="accent1">
                <a:lumMod val="40000"/>
                <a:lumOff val="60000"/>
                <a:alpha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5400" y="2130552"/>
            <a:ext cx="9601200" cy="2359152"/>
          </a:xfrm>
        </p:spPr>
        <p:txBody>
          <a:bodyPr anchor="b">
            <a:normAutofit/>
          </a:bodyPr>
          <a:lstStyle>
            <a:lvl1pPr algn="ctr" latinLnBrk="0">
              <a:defRPr lang="zh-TW" sz="5400" b="1"/>
            </a:lvl1pPr>
          </a:lstStyle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295400" y="4572000"/>
            <a:ext cx="9601200" cy="841248"/>
          </a:xfrm>
        </p:spPr>
        <p:txBody>
          <a:bodyPr anchor="t"/>
          <a:lstStyle>
            <a:lvl1pPr marL="0" indent="0" algn="ctr" latinLnBrk="0">
              <a:spcBef>
                <a:spcPts val="0"/>
              </a:spcBef>
              <a:buNone/>
              <a:defRPr lang="zh-TW" sz="20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2025/10/9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162033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341120" y="1901952"/>
            <a:ext cx="4572000" cy="4123944"/>
          </a:xfrm>
        </p:spPr>
        <p:txBody>
          <a:bodyPr>
            <a:normAutofit/>
          </a:bodyPr>
          <a:lstStyle>
            <a:lvl1pPr latinLnBrk="0">
              <a:defRPr lang="zh-TW" sz="2000"/>
            </a:lvl1pPr>
            <a:lvl2pPr latinLnBrk="0">
              <a:defRPr lang="zh-TW" sz="1800"/>
            </a:lvl2pPr>
            <a:lvl3pPr latinLnBrk="0">
              <a:defRPr lang="zh-TW" sz="1600"/>
            </a:lvl3pPr>
            <a:lvl4pPr latinLnBrk="0">
              <a:defRPr lang="zh-TW" sz="1400"/>
            </a:lvl4pPr>
            <a:lvl5pPr latinLnBrk="0">
              <a:defRPr lang="zh-TW" sz="1400"/>
            </a:lvl5pPr>
            <a:lvl6pPr latinLnBrk="0">
              <a:defRPr lang="zh-TW" sz="1400"/>
            </a:lvl6pPr>
            <a:lvl7pPr latinLnBrk="0">
              <a:defRPr lang="zh-TW" sz="1400"/>
            </a:lvl7pPr>
            <a:lvl8pPr latinLnBrk="0">
              <a:defRPr lang="zh-TW" sz="1400"/>
            </a:lvl8pPr>
            <a:lvl9pPr latinLnBrk="0">
              <a:defRPr lang="zh-TW" sz="14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>
            <a:normAutofit/>
          </a:bodyPr>
          <a:lstStyle>
            <a:lvl1pPr latinLnBrk="0">
              <a:defRPr lang="zh-TW" sz="2000"/>
            </a:lvl1pPr>
            <a:lvl2pPr latinLnBrk="0">
              <a:defRPr lang="zh-TW" sz="1800"/>
            </a:lvl2pPr>
            <a:lvl3pPr latinLnBrk="0">
              <a:defRPr lang="zh-TW" sz="1600"/>
            </a:lvl3pPr>
            <a:lvl4pPr latinLnBrk="0">
              <a:defRPr lang="zh-TW" sz="1400"/>
            </a:lvl4pPr>
            <a:lvl5pPr latinLnBrk="0">
              <a:defRPr lang="zh-TW" sz="1400"/>
            </a:lvl5pPr>
            <a:lvl6pPr latinLnBrk="0">
              <a:defRPr lang="zh-TW" sz="1400"/>
            </a:lvl6pPr>
            <a:lvl7pPr latinLnBrk="0">
              <a:defRPr lang="zh-TW" sz="1400"/>
            </a:lvl7pPr>
            <a:lvl8pPr latinLnBrk="0">
              <a:defRPr lang="zh-TW" sz="1400"/>
            </a:lvl8pPr>
            <a:lvl9pPr latinLnBrk="0">
              <a:defRPr lang="zh-TW" sz="14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2025/10/9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676357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lang="zh-TW" sz="2200" b="1">
                <a:solidFill>
                  <a:schemeClr val="tx1"/>
                </a:solidFill>
              </a:defRPr>
            </a:lvl1pPr>
            <a:lvl2pPr marL="457200" indent="0" latinLnBrk="0">
              <a:buNone/>
              <a:defRPr lang="zh-TW" sz="2000" b="1"/>
            </a:lvl2pPr>
            <a:lvl3pPr marL="914400" indent="0" latinLnBrk="0">
              <a:buNone/>
              <a:defRPr lang="zh-TW" sz="1800" b="1"/>
            </a:lvl3pPr>
            <a:lvl4pPr marL="1371600" indent="0" latinLnBrk="0">
              <a:buNone/>
              <a:defRPr lang="zh-TW" sz="1600" b="1"/>
            </a:lvl4pPr>
            <a:lvl5pPr marL="1828800" indent="0" latinLnBrk="0">
              <a:buNone/>
              <a:defRPr lang="zh-TW" sz="1600" b="1"/>
            </a:lvl5pPr>
            <a:lvl6pPr marL="2286000" indent="0" latinLnBrk="0">
              <a:buNone/>
              <a:defRPr lang="zh-TW" sz="1600" b="1"/>
            </a:lvl6pPr>
            <a:lvl7pPr marL="2743200" indent="0" latinLnBrk="0">
              <a:buNone/>
              <a:defRPr lang="zh-TW" sz="1600" b="1"/>
            </a:lvl7pPr>
            <a:lvl8pPr marL="3200400" indent="0" latinLnBrk="0">
              <a:buNone/>
              <a:defRPr lang="zh-TW" sz="1600" b="1"/>
            </a:lvl8pPr>
            <a:lvl9pPr marL="3657600" indent="0" latinLnBrk="0">
              <a:buNone/>
              <a:defRPr lang="zh-TW"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>
            <a:normAutofit/>
          </a:bodyPr>
          <a:lstStyle>
            <a:lvl1pPr latinLnBrk="0">
              <a:defRPr lang="zh-TW" sz="1800"/>
            </a:lvl1pPr>
            <a:lvl2pPr latinLnBrk="0">
              <a:defRPr lang="zh-TW" sz="1600"/>
            </a:lvl2pPr>
            <a:lvl3pPr latinLnBrk="0">
              <a:defRPr lang="zh-TW" sz="1400"/>
            </a:lvl3pPr>
            <a:lvl4pPr latinLnBrk="0">
              <a:defRPr lang="zh-TW" sz="1200"/>
            </a:lvl4pPr>
            <a:lvl5pPr latinLnBrk="0">
              <a:defRPr lang="zh-TW" sz="1200"/>
            </a:lvl5pPr>
            <a:lvl6pPr latinLnBrk="0">
              <a:defRPr lang="zh-TW" sz="1200"/>
            </a:lvl6pPr>
            <a:lvl7pPr latinLnBrk="0">
              <a:defRPr lang="zh-TW" sz="1200"/>
            </a:lvl7pPr>
            <a:lvl8pPr latinLnBrk="0">
              <a:defRPr lang="zh-TW" sz="1200"/>
            </a:lvl8pPr>
            <a:lvl9pPr latinLnBrk="0">
              <a:defRPr lang="zh-TW" sz="12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lang="zh-TW" sz="2200" b="1">
                <a:solidFill>
                  <a:schemeClr val="tx1"/>
                </a:solidFill>
              </a:defRPr>
            </a:lvl1pPr>
            <a:lvl2pPr marL="457200" indent="0" latinLnBrk="0">
              <a:buNone/>
              <a:defRPr lang="zh-TW" sz="2000" b="1"/>
            </a:lvl2pPr>
            <a:lvl3pPr marL="914400" indent="0" latinLnBrk="0">
              <a:buNone/>
              <a:defRPr lang="zh-TW" sz="1800" b="1"/>
            </a:lvl3pPr>
            <a:lvl4pPr marL="1371600" indent="0" latinLnBrk="0">
              <a:buNone/>
              <a:defRPr lang="zh-TW" sz="1600" b="1"/>
            </a:lvl4pPr>
            <a:lvl5pPr marL="1828800" indent="0" latinLnBrk="0">
              <a:buNone/>
              <a:defRPr lang="zh-TW" sz="1600" b="1"/>
            </a:lvl5pPr>
            <a:lvl6pPr marL="2286000" indent="0" latinLnBrk="0">
              <a:buNone/>
              <a:defRPr lang="zh-TW" sz="1600" b="1"/>
            </a:lvl6pPr>
            <a:lvl7pPr marL="2743200" indent="0" latinLnBrk="0">
              <a:buNone/>
              <a:defRPr lang="zh-TW" sz="1600" b="1"/>
            </a:lvl7pPr>
            <a:lvl8pPr marL="3200400" indent="0" latinLnBrk="0">
              <a:buNone/>
              <a:defRPr lang="zh-TW" sz="1600" b="1"/>
            </a:lvl8pPr>
            <a:lvl9pPr marL="3657600" indent="0" latinLnBrk="0">
              <a:buNone/>
              <a:defRPr lang="zh-TW"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>
            <a:normAutofit/>
          </a:bodyPr>
          <a:lstStyle>
            <a:lvl1pPr latinLnBrk="0">
              <a:defRPr lang="zh-TW" sz="1800"/>
            </a:lvl1pPr>
            <a:lvl2pPr latinLnBrk="0">
              <a:defRPr lang="zh-TW" sz="1600"/>
            </a:lvl2pPr>
            <a:lvl3pPr latinLnBrk="0">
              <a:defRPr lang="zh-TW" sz="1400"/>
            </a:lvl3pPr>
            <a:lvl4pPr latinLnBrk="0">
              <a:defRPr lang="zh-TW" sz="1200"/>
            </a:lvl4pPr>
            <a:lvl5pPr latinLnBrk="0">
              <a:defRPr lang="zh-TW" sz="1200"/>
            </a:lvl5pPr>
            <a:lvl6pPr latinLnBrk="0">
              <a:defRPr lang="zh-TW" sz="1200"/>
            </a:lvl6pPr>
            <a:lvl7pPr latinLnBrk="0">
              <a:defRPr lang="zh-TW" sz="1200"/>
            </a:lvl7pPr>
            <a:lvl8pPr latinLnBrk="0">
              <a:defRPr lang="zh-TW" sz="1200"/>
            </a:lvl8pPr>
            <a:lvl9pPr latinLnBrk="0">
              <a:defRPr lang="zh-TW" sz="12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TW"/>
              <a:t>
            </a:t>
            </a:r>
            <a:fld id="{0B277187-C200-495F-A386-621319EADA8F}" type="datetimeFigureOut">
              <a:t>2025/10/9</a:t>
            </a:fld>
            <a:r>
              <a:rPr lang="zh-TW"/>
              <a:t>
            </a:t>
            </a: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/>
              <a:t>
            </a:t>
            </a: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/>
              <a:t>
            </a:t>
            </a:r>
            <a:fld id="{FC749032-2A07-4AE8-BA90-74324CAE0C87}" type="slidenum">
              <a:t>‹#›</a:t>
            </a:fld>
            <a:r>
              <a:rPr lang="zh-TW"/>
              <a:t>
            </a:t>
            </a:r>
          </a:p>
        </p:txBody>
      </p:sp>
    </p:spTree>
    <p:extLst>
      <p:ext uri="{BB962C8B-B14F-4D97-AF65-F5344CB8AC3E}">
        <p14:creationId xmlns:p14="http://schemas.microsoft.com/office/powerpoint/2010/main" val="325439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2025/10/9</a:t>
            </a:fld>
            <a:endParaRPr 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412916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群組 4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6" name="矩形 5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TW"/>
            </a:p>
          </p:txBody>
        </p:sp>
        <p:sp>
          <p:nvSpPr>
            <p:cNvPr id="7" name="矩形 6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TW"/>
            </a:p>
          </p:txBody>
        </p:sp>
      </p:grp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2025/10/9</a:t>
            </a:fld>
            <a:endParaRPr 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295436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9" name="矩形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TW"/>
            </a:p>
          </p:txBody>
        </p:sp>
        <p:sp>
          <p:nvSpPr>
            <p:cNvPr id="10" name="矩形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TW"/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anchor="b">
            <a:normAutofit/>
          </a:bodyPr>
          <a:lstStyle>
            <a:lvl1pPr latinLnBrk="0">
              <a:defRPr lang="zh-TW" sz="3400" b="1"/>
            </a:lvl1pPr>
          </a:lstStyle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758952"/>
            <a:ext cx="6629400" cy="5330952"/>
          </a:xfrm>
        </p:spPr>
        <p:txBody>
          <a:bodyPr>
            <a:normAutofit/>
          </a:bodyPr>
          <a:lstStyle>
            <a:lvl1pPr latinLnBrk="0">
              <a:defRPr lang="zh-TW" sz="2000"/>
            </a:lvl1pPr>
            <a:lvl2pPr latinLnBrk="0">
              <a:defRPr lang="zh-TW" sz="1800"/>
            </a:lvl2pPr>
            <a:lvl3pPr latinLnBrk="0">
              <a:defRPr lang="zh-TW" sz="1600"/>
            </a:lvl3pPr>
            <a:lvl4pPr latinLnBrk="0">
              <a:defRPr lang="zh-TW" sz="1400"/>
            </a:lvl4pPr>
            <a:lvl5pPr latinLnBrk="0">
              <a:defRPr lang="zh-TW" sz="1400"/>
            </a:lvl5pPr>
            <a:lvl6pPr latinLnBrk="0">
              <a:defRPr lang="zh-TW" sz="1400"/>
            </a:lvl6pPr>
            <a:lvl7pPr latinLnBrk="0">
              <a:defRPr lang="zh-TW" sz="1400"/>
            </a:lvl7pPr>
            <a:lvl8pPr latinLnBrk="0">
              <a:defRPr lang="zh-TW" sz="1400"/>
            </a:lvl8pPr>
            <a:lvl9pPr latinLnBrk="0">
              <a:defRPr lang="zh-TW" sz="14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>
            <a:normAutofit/>
          </a:bodyPr>
          <a:lstStyle>
            <a:lvl1pPr marL="0" indent="0" latinLnBrk="0">
              <a:spcBef>
                <a:spcPts val="1200"/>
              </a:spcBef>
              <a:buNone/>
              <a:defRPr lang="zh-TW" sz="1600"/>
            </a:lvl1pPr>
            <a:lvl2pPr marL="457200" indent="0" latinLnBrk="0">
              <a:buNone/>
              <a:defRPr lang="zh-TW" sz="1200"/>
            </a:lvl2pPr>
            <a:lvl3pPr marL="914400" indent="0" latinLnBrk="0">
              <a:buNone/>
              <a:defRPr lang="zh-TW" sz="1000"/>
            </a:lvl3pPr>
            <a:lvl4pPr marL="1371600" indent="0" latinLnBrk="0">
              <a:buNone/>
              <a:defRPr lang="zh-TW" sz="900"/>
            </a:lvl4pPr>
            <a:lvl5pPr marL="1828800" indent="0" latinLnBrk="0">
              <a:buNone/>
              <a:defRPr lang="zh-TW" sz="900"/>
            </a:lvl5pPr>
            <a:lvl6pPr marL="2286000" indent="0" latinLnBrk="0">
              <a:buNone/>
              <a:defRPr lang="zh-TW" sz="900"/>
            </a:lvl6pPr>
            <a:lvl7pPr marL="2743200" indent="0" latinLnBrk="0">
              <a:buNone/>
              <a:defRPr lang="zh-TW" sz="900"/>
            </a:lvl7pPr>
            <a:lvl8pPr marL="3200400" indent="0" latinLnBrk="0">
              <a:buNone/>
              <a:defRPr lang="zh-TW" sz="900"/>
            </a:lvl8pPr>
            <a:lvl9pPr marL="3657600" indent="0" latinLnBrk="0">
              <a:buNone/>
              <a:defRPr lang="zh-TW"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2025/10/9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539374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9" name="矩形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TW"/>
            </a:p>
          </p:txBody>
        </p:sp>
        <p:sp>
          <p:nvSpPr>
            <p:cNvPr id="10" name="矩形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TW"/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anchor="b">
            <a:normAutofit/>
          </a:bodyPr>
          <a:lstStyle>
            <a:lvl1pPr latinLnBrk="0">
              <a:defRPr lang="zh-TW" sz="3400" b="1"/>
            </a:lvl1pPr>
          </a:lstStyle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50811" y="506104"/>
            <a:ext cx="6858002" cy="584301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indent="0" algn="ctr" latinLnBrk="0">
              <a:buNone/>
              <a:defRPr lang="zh-TW" sz="2000"/>
            </a:lvl1pPr>
            <a:lvl2pPr marL="457200" indent="0" latinLnBrk="0">
              <a:buNone/>
              <a:defRPr lang="zh-TW" sz="2800"/>
            </a:lvl2pPr>
            <a:lvl3pPr marL="914400" indent="0" latinLnBrk="0">
              <a:buNone/>
              <a:defRPr lang="zh-TW" sz="2400"/>
            </a:lvl3pPr>
            <a:lvl4pPr marL="1371600" indent="0" latinLnBrk="0">
              <a:buNone/>
              <a:defRPr lang="zh-TW" sz="2000"/>
            </a:lvl4pPr>
            <a:lvl5pPr marL="1828800" indent="0" latinLnBrk="0">
              <a:buNone/>
              <a:defRPr lang="zh-TW" sz="2000"/>
            </a:lvl5pPr>
            <a:lvl6pPr marL="2286000" indent="0" latinLnBrk="0">
              <a:buNone/>
              <a:defRPr lang="zh-TW" sz="2000"/>
            </a:lvl6pPr>
            <a:lvl7pPr marL="2743200" indent="0" latinLnBrk="0">
              <a:buNone/>
              <a:defRPr lang="zh-TW" sz="2000"/>
            </a:lvl7pPr>
            <a:lvl8pPr marL="3200400" indent="0" latinLnBrk="0">
              <a:buNone/>
              <a:defRPr lang="zh-TW" sz="2000"/>
            </a:lvl8pPr>
            <a:lvl9pPr marL="3657600" indent="0" latinLnBrk="0">
              <a:buNone/>
              <a:defRPr lang="zh-TW" sz="2000"/>
            </a:lvl9pPr>
          </a:lstStyle>
          <a:p>
            <a:r>
              <a:rPr lang="zh-TW" altLang="en-US" smtClean="0"/>
              <a:t>按一下圖示以新增圖片</a:t>
            </a:r>
            <a:endParaRPr lang="zh-TW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>
            <a:normAutofit/>
          </a:bodyPr>
          <a:lstStyle>
            <a:lvl1pPr marL="0" indent="0" latinLnBrk="0">
              <a:spcBef>
                <a:spcPts val="1200"/>
              </a:spcBef>
              <a:buNone/>
              <a:defRPr lang="zh-TW" sz="1600"/>
            </a:lvl1pPr>
            <a:lvl2pPr marL="457200" indent="0" latinLnBrk="0">
              <a:buNone/>
              <a:defRPr lang="zh-TW" sz="1200"/>
            </a:lvl2pPr>
            <a:lvl3pPr marL="914400" indent="0" latinLnBrk="0">
              <a:buNone/>
              <a:defRPr lang="zh-TW" sz="1000"/>
            </a:lvl3pPr>
            <a:lvl4pPr marL="1371600" indent="0" latinLnBrk="0">
              <a:buNone/>
              <a:defRPr lang="zh-TW" sz="900"/>
            </a:lvl4pPr>
            <a:lvl5pPr marL="1828800" indent="0" latinLnBrk="0">
              <a:buNone/>
              <a:defRPr lang="zh-TW" sz="900"/>
            </a:lvl5pPr>
            <a:lvl6pPr marL="2286000" indent="0" latinLnBrk="0">
              <a:buNone/>
              <a:defRPr lang="zh-TW" sz="900"/>
            </a:lvl6pPr>
            <a:lvl7pPr marL="2743200" indent="0" latinLnBrk="0">
              <a:buNone/>
              <a:defRPr lang="zh-TW" sz="900"/>
            </a:lvl7pPr>
            <a:lvl8pPr marL="3200400" indent="0" latinLnBrk="0">
              <a:buNone/>
              <a:defRPr lang="zh-TW" sz="900"/>
            </a:lvl8pPr>
            <a:lvl9pPr marL="3657600" indent="0" latinLnBrk="0">
              <a:buNone/>
              <a:defRPr lang="zh-TW"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2025/10/9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101986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垂直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垂直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 latinLnBrk="0">
              <a:defRPr lang="zh-TW"/>
            </a:lvl5pPr>
            <a:lvl6pPr latinLnBrk="0">
              <a:defRPr lang="zh-TW"/>
            </a:lvl6pPr>
            <a:lvl7pPr latinLnBrk="0">
              <a:defRPr lang="zh-TW"/>
            </a:lvl7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2025/10/9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735931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標題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垂直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2025/10/9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4230509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20000"/>
                <a:lumOff val="80000"/>
                <a:alpha val="59000"/>
              </a:schemeClr>
            </a:gs>
            <a:gs pos="40000">
              <a:schemeClr val="accent1">
                <a:lumMod val="20000"/>
                <a:lumOff val="80000"/>
                <a:alpha val="66000"/>
              </a:schemeClr>
            </a:gs>
            <a:gs pos="100000">
              <a:schemeClr val="accent1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群組 8"/>
          <p:cNvGrpSpPr/>
          <p:nvPr/>
        </p:nvGrpSpPr>
        <p:grpSpPr>
          <a:xfrm>
            <a:off x="-1" y="6480048"/>
            <a:ext cx="12188827" cy="377952"/>
            <a:chOff x="-1" y="6480048"/>
            <a:chExt cx="12188827" cy="377952"/>
          </a:xfrm>
        </p:grpSpPr>
        <p:sp>
          <p:nvSpPr>
            <p:cNvPr id="7" name="矩形 6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TW"/>
            </a:p>
          </p:txBody>
        </p:sp>
        <p:sp>
          <p:nvSpPr>
            <p:cNvPr id="8" name="矩形 7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TW"/>
            </a:p>
          </p:txBody>
        </p:sp>
      </p:grp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TW" sz="900">
                <a:solidFill>
                  <a:schemeClr val="tx1"/>
                </a:solidFill>
              </a:defRPr>
            </a:lvl1pPr>
          </a:lstStyle>
          <a:p>
            <a:fld id="{0B277187-C200-495F-A386-621319EADA8F}" type="datetimeFigureOut">
              <a:pPr/>
              <a:t>2025/10/9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lang="zh-TW" sz="900">
                <a:solidFill>
                  <a:schemeClr val="tx1"/>
                </a:solidFill>
              </a:defRPr>
            </a:lvl1pPr>
          </a:lstStyle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TW" sz="900">
                <a:solidFill>
                  <a:schemeClr val="tx1"/>
                </a:solidFill>
              </a:defRPr>
            </a:lvl1pPr>
          </a:lstStyle>
          <a:p>
            <a:fld id="{FC749032-2A07-4AE8-BA90-74324CAE0C87}" type="slidenum">
              <a:pPr/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870023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TW" sz="3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lang="zh-TW" sz="20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SzPct val="100000"/>
        <a:buFont typeface="Arial" pitchFamily="34" charset="0"/>
        <a:buChar char="▪"/>
        <a:defRPr lang="zh-TW" sz="18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lang="zh-TW" sz="16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lang="zh-TW" sz="14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lang="zh-TW" sz="14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lang="zh-TW"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lang="zh-TW"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lang="zh-TW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lang="zh-TW"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"/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if"/><Relationship Id="rId2" Type="http://schemas.openxmlformats.org/officeDocument/2006/relationships/image" Target="../media/image14.t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ti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kern="1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流程控制</a:t>
            </a:r>
            <a:endParaRPr 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副標題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國立臺北商業大學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資訊管理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張隆君</a:t>
            </a:r>
            <a:endParaRPr 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9801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5D8035-421F-0747-9A88-AFCBCF5A6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5-1</a:t>
            </a:r>
            <a:r>
              <a:rPr lang="zh-TW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：關係運算子</a:t>
            </a:r>
            <a:endParaRPr kumimoji="1"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AA2E797-86AB-5440-B0FB-4A05D2FD8E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1021" y="1978365"/>
            <a:ext cx="9849957" cy="3703977"/>
          </a:xfrm>
        </p:spPr>
      </p:pic>
    </p:spTree>
    <p:extLst>
      <p:ext uri="{BB962C8B-B14F-4D97-AF65-F5344CB8AC3E}">
        <p14:creationId xmlns:p14="http://schemas.microsoft.com/office/powerpoint/2010/main" val="274448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F46B10F-25EC-DD8A-E8B4-384028BB9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4482"/>
            <a:ext cx="10515600" cy="5542481"/>
          </a:xfrm>
        </p:spPr>
        <p:txBody>
          <a:bodyPr>
            <a:normAutofit/>
          </a:bodyPr>
          <a:lstStyle/>
          <a:p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實例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：下列會傳回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True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en-US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實例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：下列會傳回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False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  <a:p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2B0E579-C3F7-DAB6-23E7-95152BE5CD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615" y="1617442"/>
            <a:ext cx="6053143" cy="92048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46EC837F-06B2-033F-335F-1D40ED4ED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615" y="4320074"/>
            <a:ext cx="5685098" cy="92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5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3605F4-57E9-9146-B7BE-CBED905B2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5-2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：邏輯運算子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64A35B-CB2B-FE4A-8E46-5C5F5619E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and	--- </a:t>
            </a: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相當於邏輯符號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AND</a:t>
            </a:r>
          </a:p>
          <a:p>
            <a:endParaRPr lang="en-US" altLang="zh-TW" sz="2800" kern="1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sz="2800" kern="1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sz="2800" kern="1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sz="2800" kern="1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sz="2800" kern="1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sz="2800" kern="1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zh-TW" altLang="zh-TW" sz="2800" kern="1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zh-TW" altLang="en-US" sz="2800" kern="1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BE1C153-68DD-6C4E-BD7B-1263B5814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060" y="2494603"/>
            <a:ext cx="4049485" cy="2104144"/>
          </a:xfrm>
          <a:prstGeom prst="rect">
            <a:avLst/>
          </a:prstGeom>
        </p:spPr>
      </p:pic>
      <p:pic>
        <p:nvPicPr>
          <p:cNvPr id="6" name="圖片 5" descr="../../../../Downloads/p3.jpg">
            <a:extLst>
              <a:ext uri="{FF2B5EF4-FFF2-40B4-BE49-F238E27FC236}">
                <a16:creationId xmlns:a16="http://schemas.microsoft.com/office/drawing/2014/main" id="{40D5C38F-EDED-204A-9F12-A5088901ABC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9292" y="2980199"/>
            <a:ext cx="3228840" cy="985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圖片 6" descr="../../../../Downloads/p4.jpg">
            <a:extLst>
              <a:ext uri="{FF2B5EF4-FFF2-40B4-BE49-F238E27FC236}">
                <a16:creationId xmlns:a16="http://schemas.microsoft.com/office/drawing/2014/main" id="{EFCFCEDD-6342-D443-94B0-D61783599F30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4906" y="4598747"/>
            <a:ext cx="3467101" cy="19408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6713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E8FD21-7C93-D94C-A5D8-AC41ECB8F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0100"/>
            <a:ext cx="10515600" cy="5376863"/>
          </a:xfrm>
        </p:spPr>
        <p:txBody>
          <a:bodyPr>
            <a:normAutofit/>
          </a:bodyPr>
          <a:lstStyle/>
          <a:p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or  --- 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相當於邏輯符號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OR</a:t>
            </a:r>
          </a:p>
          <a:p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CAE57DA-0772-3C42-9CF0-F7977E568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943" y="1544721"/>
            <a:ext cx="3725636" cy="1943810"/>
          </a:xfrm>
          <a:prstGeom prst="rect">
            <a:avLst/>
          </a:prstGeom>
        </p:spPr>
      </p:pic>
      <p:pic>
        <p:nvPicPr>
          <p:cNvPr id="6" name="圖片 5" descr="../../../../Downloads/p5.jpg">
            <a:extLst>
              <a:ext uri="{FF2B5EF4-FFF2-40B4-BE49-F238E27FC236}">
                <a16:creationId xmlns:a16="http://schemas.microsoft.com/office/drawing/2014/main" id="{4D13ED5A-3BA0-CC41-A652-725B133ADD7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7178" y="3812044"/>
            <a:ext cx="3477985" cy="2426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圖片 6" descr="../../../../Downloads/p6.jpg">
            <a:extLst>
              <a:ext uri="{FF2B5EF4-FFF2-40B4-BE49-F238E27FC236}">
                <a16:creationId xmlns:a16="http://schemas.microsoft.com/office/drawing/2014/main" id="{3C7A94AF-2391-CC4C-AB08-E0E294E1014C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7178" y="2468658"/>
            <a:ext cx="3477985" cy="11801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1892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57846A-809F-FC45-AAFA-0F70F6AD8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8457"/>
            <a:ext cx="10515600" cy="5458506"/>
          </a:xfrm>
        </p:spPr>
        <p:txBody>
          <a:bodyPr>
            <a:normAutofit/>
          </a:bodyPr>
          <a:lstStyle/>
          <a:p>
            <a:r>
              <a:rPr lang="en-US" altLang="zh-TW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not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--- 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相當於邏輯符號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NOT</a:t>
            </a:r>
          </a:p>
          <a:p>
            <a:endParaRPr kumimoji="1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61D045A-1168-994B-A9B7-B87DD95C7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354" y="1356403"/>
            <a:ext cx="4512438" cy="1599068"/>
          </a:xfrm>
          <a:prstGeom prst="rect">
            <a:avLst/>
          </a:prstGeom>
        </p:spPr>
      </p:pic>
      <p:pic>
        <p:nvPicPr>
          <p:cNvPr id="10" name="圖片 9" descr="../../../../Downloads/p7.jpg">
            <a:extLst>
              <a:ext uri="{FF2B5EF4-FFF2-40B4-BE49-F238E27FC236}">
                <a16:creationId xmlns:a16="http://schemas.microsoft.com/office/drawing/2014/main" id="{F7F0A3F2-EFA0-D744-BED7-6D09F93FA75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9417" y="1846385"/>
            <a:ext cx="3653382" cy="160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圖片 10" descr="../../../../Downloads/p8.jpg">
            <a:extLst>
              <a:ext uri="{FF2B5EF4-FFF2-40B4-BE49-F238E27FC236}">
                <a16:creationId xmlns:a16="http://schemas.microsoft.com/office/drawing/2014/main" id="{C0EDD911-7A4B-2F42-A0F0-95324CA89546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9417" y="3447710"/>
            <a:ext cx="3653382" cy="15488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2014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BA585B-1750-DA40-B9AB-C9636394B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5-3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if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敘述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32F64C-1E81-3D47-AB77-6C310B221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6200" indent="0" algn="just">
              <a:spcAft>
                <a:spcPts val="0"/>
              </a:spcAft>
              <a:buNone/>
            </a:pPr>
            <a:r>
              <a:rPr lang="en-US" altLang="zh-TW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if  (</a:t>
            </a:r>
            <a:r>
              <a:rPr lang="zh-TW" altLang="zh-TW" sz="2800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條件判斷</a:t>
            </a:r>
            <a:r>
              <a:rPr lang="en-US" altLang="zh-TW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zh-TW" altLang="zh-TW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</a:t>
            </a:r>
            <a:r>
              <a:rPr lang="en-US" altLang="zh-TW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n-US" altLang="zh-TW" sz="2800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# </a:t>
            </a:r>
            <a:r>
              <a:rPr lang="zh-TW" altLang="zh-TW" sz="2800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條件判斷</a:t>
            </a:r>
            <a:r>
              <a:rPr lang="zh-TW" altLang="zh-TW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外的小括號可有可無</a:t>
            </a:r>
          </a:p>
          <a:p>
            <a:pPr marL="76200" indent="0" algn="just">
              <a:spcAft>
                <a:spcPts val="0"/>
              </a:spcAft>
              <a:buNone/>
            </a:pPr>
            <a:r>
              <a:rPr lang="en-US" altLang="zh-TW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zh-TW" altLang="zh-TW" sz="2800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程式碼區塊</a:t>
            </a:r>
            <a:endParaRPr lang="zh-TW" altLang="zh-TW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800" dirty="0"/>
          </a:p>
          <a:p>
            <a:pPr marL="76200" indent="0" algn="just">
              <a:spcAft>
                <a:spcPts val="0"/>
              </a:spcAft>
              <a:buNone/>
            </a:pPr>
            <a:r>
              <a:rPr lang="en-US" altLang="zh-TW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if  (</a:t>
            </a:r>
            <a:r>
              <a:rPr lang="zh-TW" altLang="zh-TW" sz="2800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條件判斷</a:t>
            </a:r>
            <a:r>
              <a:rPr lang="en-US" altLang="zh-TW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zh-TW" altLang="zh-TW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 </a:t>
            </a:r>
            <a:r>
              <a:rPr lang="zh-TW" altLang="zh-TW" sz="2800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程式碼區塊</a:t>
            </a:r>
            <a:endParaRPr lang="zh-TW" altLang="zh-TW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zh-TW" sz="2800" dirty="0"/>
          </a:p>
          <a:p>
            <a:pPr marL="0" indent="0">
              <a:buNone/>
            </a:pPr>
            <a:endParaRPr kumimoji="1" lang="zh-TW" altLang="en-US" sz="28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61FBDE1-D14D-4624-EB8E-4C1AD33E56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725906"/>
            <a:ext cx="4673531" cy="33203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1698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6341F7-1330-D544-B69B-64DC4A11A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7443"/>
            <a:ext cx="10515600" cy="5409520"/>
          </a:xfrm>
        </p:spPr>
        <p:txBody>
          <a:bodyPr>
            <a:normAutofit/>
          </a:bodyPr>
          <a:lstStyle/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 smtClean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ch5_1.py</a:t>
            </a:r>
            <a:r>
              <a:rPr lang="zh-TW" altLang="zh-TW" sz="2800" kern="1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if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敘述的基本應用。</a:t>
            </a: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0"/>
              </a:spcAft>
              <a:buNone/>
            </a:pP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 smtClean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ch5_2.py</a:t>
            </a:r>
            <a:r>
              <a:rPr lang="zh-TW" altLang="zh-TW" sz="2800" kern="1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輸出絕對值的應用。</a:t>
            </a:r>
          </a:p>
          <a:p>
            <a:pPr algn="just">
              <a:spcAft>
                <a:spcPts val="0"/>
              </a:spcAft>
            </a:pP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4A647095-9C08-FE9A-FA83-C83FA5823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938" y="1669401"/>
            <a:ext cx="6034535" cy="1092459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8FB9C585-39BF-B199-E2AD-89350ED945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938" y="4534966"/>
            <a:ext cx="6034534" cy="105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10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C48ACD-DF4A-804A-81A8-9A2B1C059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5-4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if 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else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敘述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5973ED6-A49E-0D4A-B412-98F8DB480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6200" indent="0" algn="just">
              <a:spcAft>
                <a:spcPts val="0"/>
              </a:spcAft>
              <a:buNone/>
            </a:pP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if  (</a:t>
            </a: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條件判斷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):				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6200" indent="0" algn="just">
              <a:spcAft>
                <a:spcPts val="0"/>
              </a:spcAft>
              <a:buNone/>
            </a:pP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</a:t>
            </a: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程式碼區塊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1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6200" indent="0" algn="just">
              <a:spcAft>
                <a:spcPts val="0"/>
              </a:spcAft>
              <a:buNone/>
            </a:pP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else: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6200" indent="0" algn="just">
              <a:spcAft>
                <a:spcPts val="0"/>
              </a:spcAft>
              <a:buNone/>
            </a:pP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</a:t>
            </a:r>
            <a:r>
              <a:rPr lang="zh-Hant" altLang="en-US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程式碼區塊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2</a:t>
            </a:r>
          </a:p>
          <a:p>
            <a:pPr marL="76200" indent="0" algn="just">
              <a:spcAft>
                <a:spcPts val="0"/>
              </a:spcAft>
              <a:buNone/>
            </a:pPr>
            <a:endParaRPr lang="en-US" altLang="zh-TW" sz="2800" kern="1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6200" indent="0" algn="just">
              <a:spcAft>
                <a:spcPts val="0"/>
              </a:spcAft>
              <a:buNone/>
            </a:pPr>
            <a:endParaRPr lang="en-US" altLang="zh-TW" sz="2800" kern="1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6200" indent="0" algn="just">
              <a:spcAft>
                <a:spcPts val="0"/>
              </a:spcAft>
              <a:buNone/>
            </a:pPr>
            <a:endParaRPr lang="en-US" altLang="zh-TW" sz="2800" kern="1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6200" indent="0" algn="just">
              <a:spcAft>
                <a:spcPts val="0"/>
              </a:spcAft>
              <a:buNone/>
            </a:pP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F632120-607A-E081-5939-9FC94316A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846" y="2377973"/>
            <a:ext cx="5702856" cy="317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604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8E1F26-4115-8B44-9FBF-339CC16EC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5414"/>
            <a:ext cx="10515600" cy="5311549"/>
          </a:xfrm>
        </p:spPr>
        <p:txBody>
          <a:bodyPr>
            <a:normAutofit/>
          </a:bodyPr>
          <a:lstStyle/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 smtClean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ch5_3.py</a:t>
            </a:r>
            <a:r>
              <a:rPr lang="zh-TW" altLang="zh-TW" sz="2800" kern="1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重新設計</a:t>
            </a:r>
            <a:r>
              <a:rPr lang="en-US" altLang="zh-TW" sz="2800" kern="1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ch5_1.py</a:t>
            </a:r>
            <a:r>
              <a:rPr lang="zh-TW" altLang="zh-TW" sz="2800" kern="1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多了年齡滿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歲時的輸出。</a:t>
            </a:r>
          </a:p>
          <a:p>
            <a:endParaRPr kumimoji="1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8A865E9C-1C04-8E71-720F-EE00DC5296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3675" y="2372179"/>
            <a:ext cx="6604650" cy="1229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04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9768AD-CF2E-455F-5F28-54AEB780F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9837"/>
            <a:ext cx="10515600" cy="5617126"/>
          </a:xfrm>
        </p:spPr>
        <p:txBody>
          <a:bodyPr/>
          <a:lstStyle/>
          <a:p>
            <a:pPr marL="342900" lvl="0" indent="-342900">
              <a:buFont typeface="Wingdings" pitchFamily="2" charset="2"/>
              <a:buChar char=""/>
            </a:pPr>
            <a:r>
              <a:rPr lang="en-US" altLang="zh-TW" sz="2800" b="1" kern="100" dirty="0">
                <a:solidFill>
                  <a:srgbClr val="00B05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Python</a:t>
            </a:r>
            <a:r>
              <a:rPr lang="zh-TW" altLang="zh-TW" sz="2800" b="1" kern="100" dirty="0">
                <a:solidFill>
                  <a:srgbClr val="00B05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寫作風格</a:t>
            </a:r>
            <a:r>
              <a:rPr lang="en-US" altLang="zh-TW" sz="2800" b="1" kern="100" dirty="0">
                <a:solidFill>
                  <a:srgbClr val="00B05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(Python Enhancement Proposals) - PEP 8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r>
              <a:rPr lang="en-US" altLang="zh-TW" sz="2800" kern="100" dirty="0" smtClean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Python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風格建議不使用</a:t>
            </a:r>
            <a:r>
              <a:rPr lang="en-US" altLang="zh-TW" sz="2800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if </a:t>
            </a:r>
            <a:r>
              <a:rPr lang="en-US" altLang="zh-TW" sz="2800" kern="100" dirty="0">
                <a:solidFill>
                  <a:srgbClr val="C4591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xx</a:t>
            </a:r>
            <a:r>
              <a:rPr lang="en-US" altLang="zh-TW" sz="2800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== </a:t>
            </a:r>
            <a:r>
              <a:rPr lang="en-US" altLang="zh-TW" sz="2800" kern="100" dirty="0">
                <a:solidFill>
                  <a:srgbClr val="C4591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true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判斷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True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或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False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，可以直接使用</a:t>
            </a:r>
            <a:r>
              <a:rPr lang="en-US" altLang="zh-TW" sz="2800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if </a:t>
            </a:r>
            <a:r>
              <a:rPr lang="en-US" altLang="zh-TW" sz="2800" kern="100" dirty="0">
                <a:solidFill>
                  <a:srgbClr val="C4591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xx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 </a:t>
            </a:r>
          </a:p>
          <a:p>
            <a:pPr algn="just"/>
            <a:r>
              <a:rPr lang="zh-TW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 smtClean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ch5_4.py</a:t>
            </a:r>
            <a:r>
              <a:rPr lang="zh-TW" altLang="zh-TW" sz="2800" kern="100" dirty="0" smtClean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奇數偶數的判斷，下列第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5-8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列是傳統用法，第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10-13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列是符合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PEP 8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用法，第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15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列是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Python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高手用法。</a:t>
            </a:r>
          </a:p>
          <a:p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D3E24E0-CF84-ACA2-EDA1-3DADC44F2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168" y="3307751"/>
            <a:ext cx="7271994" cy="225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412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0F2C59-80B2-B2E9-499D-63D1CCAD5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7159"/>
            <a:ext cx="10515600" cy="5579804"/>
          </a:xfrm>
        </p:spPr>
        <p:txBody>
          <a:bodyPr>
            <a:normAutofit/>
          </a:bodyPr>
          <a:lstStyle/>
          <a:p>
            <a:pPr algn="just"/>
            <a:r>
              <a:rPr lang="en-US" altLang="zh-TW" sz="2800" kern="100" dirty="0" smtClean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Python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精神可以簡化上述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if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語法，例如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: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下列是求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x, 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之最大值或最小值。</a:t>
            </a:r>
          </a:p>
          <a:p>
            <a:pPr algn="just"/>
            <a:r>
              <a:rPr lang="en-US" altLang="zh-TW" sz="2800" kern="100" dirty="0" smtClean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max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_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= x if x &gt; y else y   		</a:t>
            </a:r>
            <a:r>
              <a:rPr lang="en-US" altLang="zh-TW" sz="2800" kern="100" dirty="0" smtClean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# 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取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x, 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之</a:t>
            </a:r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最大值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r>
              <a:rPr lang="en-US" altLang="zh-TW" sz="2800" kern="100" dirty="0" smtClean="0">
                <a:solidFill>
                  <a:srgbClr val="00B05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min</a:t>
            </a:r>
            <a:r>
              <a:rPr lang="en-US" altLang="zh-TW" sz="2800" kern="100" dirty="0">
                <a:solidFill>
                  <a:srgbClr val="00B05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_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= x if x &lt; y else </a:t>
            </a:r>
            <a:r>
              <a:rPr lang="en-US" altLang="zh-TW" sz="2800" kern="100" dirty="0" smtClean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y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		</a:t>
            </a:r>
            <a:r>
              <a:rPr lang="en-US" altLang="zh-TW" sz="2800" kern="100" dirty="0" smtClean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# 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取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x, 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之</a:t>
            </a:r>
            <a:r>
              <a:rPr lang="zh-TW" altLang="zh-TW" sz="2800" kern="100" dirty="0">
                <a:solidFill>
                  <a:srgbClr val="00B05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最小值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r>
              <a:rPr lang="en-US" altLang="zh-TW" sz="2800" kern="100" dirty="0" smtClean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Python</a:t>
            </a:r>
            <a:r>
              <a:rPr lang="zh-TW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是非常靈活的程式語言，上述也可以使用內建函數寫成下列方式：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r>
              <a:rPr lang="en-US" altLang="zh-TW" sz="2800" kern="100" dirty="0" smtClean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max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_</a:t>
            </a:r>
            <a:r>
              <a:rPr lang="en-US" altLang="zh-TW" sz="2800" kern="100" dirty="0">
                <a:solidFill>
                  <a:srgbClr val="00B05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= max(x, y)	</a:t>
            </a:r>
            <a:r>
              <a:rPr lang="en-US" altLang="zh-TW" sz="2800" kern="100" dirty="0" smtClean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#</a:t>
            </a:r>
            <a:r>
              <a:rPr lang="en-US" altLang="zh-TW" sz="2800" kern="100" dirty="0" smtClean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max</a:t>
            </a:r>
            <a:r>
              <a:rPr lang="zh-TW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是內建函數，變數用後面</a:t>
            </a:r>
            <a:r>
              <a:rPr lang="zh-TW" altLang="zh-TW" sz="2800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加底線</a:t>
            </a:r>
            <a:r>
              <a:rPr lang="zh-TW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區隔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r>
              <a:rPr lang="en-US" altLang="zh-TW" sz="2800" kern="100" dirty="0" smtClean="0">
                <a:solidFill>
                  <a:srgbClr val="00B05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min</a:t>
            </a:r>
            <a:r>
              <a:rPr lang="en-US" altLang="zh-TW" sz="2800" kern="100" dirty="0">
                <a:solidFill>
                  <a:srgbClr val="00B05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_ </a:t>
            </a:r>
            <a:r>
              <a:rPr lang="en-US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= min(x, y)	</a:t>
            </a:r>
            <a:r>
              <a:rPr lang="en-US" altLang="zh-TW" sz="2800" kern="100" dirty="0" smtClean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#</a:t>
            </a:r>
            <a:r>
              <a:rPr lang="en-US" altLang="zh-TW" sz="2800" kern="100" dirty="0" smtClean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min</a:t>
            </a:r>
            <a:r>
              <a:rPr lang="zh-TW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是內建函數，變數用後面</a:t>
            </a:r>
            <a:r>
              <a:rPr lang="zh-TW" altLang="zh-TW" sz="2800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加底線</a:t>
            </a:r>
            <a:r>
              <a:rPr lang="zh-TW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區隔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r>
              <a:rPr lang="zh-TW" altLang="zh-TW" sz="2800" kern="100" dirty="0" smtClean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註</a:t>
            </a:r>
            <a:r>
              <a:rPr lang="zh-TW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max</a:t>
            </a:r>
            <a:r>
              <a:rPr lang="zh-TW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</a:t>
            </a:r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內建函數</a:t>
            </a:r>
            <a:r>
              <a:rPr lang="zh-TW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，當變數名稱與內建函數名稱相同時，可以在變數用後面加底線做區隔。</a:t>
            </a:r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2790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26492D-4715-76BC-4EE3-AFE5812D0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8498"/>
            <a:ext cx="10515600" cy="5598465"/>
          </a:xfrm>
        </p:spPr>
        <p:txBody>
          <a:bodyPr/>
          <a:lstStyle/>
          <a:p>
            <a:pPr algn="just"/>
            <a:r>
              <a:rPr lang="zh-TW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 smtClean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ch5_5.py</a:t>
            </a:r>
            <a:r>
              <a:rPr lang="zh-TW" altLang="zh-TW" sz="2800" kern="100" dirty="0" smtClean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zh-TW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請輸入</a:t>
            </a:r>
            <a:r>
              <a:rPr lang="en-US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zh-TW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個數字，這個程式會用</a:t>
            </a:r>
            <a:r>
              <a:rPr lang="en-US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Python</a:t>
            </a:r>
            <a:r>
              <a:rPr lang="zh-TW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精神語法，列出最大值與最小值。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601444A-92C8-C8AE-FB1A-66443A3B9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298" y="1976016"/>
            <a:ext cx="3504682" cy="2296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7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B97480-A275-834B-B210-EF68D6061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5-5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if 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4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elif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 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else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敘述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1AAE9AFE-E6EC-FAA5-0507-80761B3B3E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261" y="1884119"/>
            <a:ext cx="7319477" cy="4423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5574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4F22D4D8-BE1B-4D5A-6BE1-509A04AB1D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929" y="1073756"/>
            <a:ext cx="9420971" cy="50245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9732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8D7519-4050-374A-A682-3CEA17553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3143"/>
            <a:ext cx="10515600" cy="5523820"/>
          </a:xfrm>
        </p:spPr>
        <p:txBody>
          <a:bodyPr>
            <a:normAutofit/>
          </a:bodyPr>
          <a:lstStyle/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 smtClean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ch5_6.py</a:t>
            </a:r>
            <a:r>
              <a:rPr lang="zh-TW" altLang="zh-TW" sz="2800" kern="1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請輸入數字分數，程式將回應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D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或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等級。</a:t>
            </a: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0"/>
              </a:spcAft>
              <a:buNone/>
            </a:pP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64656521-D1BB-10A7-4E6F-E6A62FB3D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794" y="2222888"/>
            <a:ext cx="8978837" cy="1490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044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E65386-4767-AF41-80D1-E006BE525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zh-TW" sz="4000" b="1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5-6</a:t>
            </a:r>
            <a:r>
              <a:rPr lang="zh-TW" altLang="zh-TW" sz="4000" b="1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：專題：</a:t>
            </a:r>
            <a:r>
              <a:rPr lang="en-US" altLang="zh-TW" sz="4000" b="1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BMI/</a:t>
            </a:r>
            <a:r>
              <a:rPr lang="zh-TW" altLang="zh-TW" sz="4000" b="1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猜</a:t>
            </a:r>
            <a:r>
              <a:rPr lang="zh-TW" altLang="zh-TW" sz="4000" b="1" kern="100" dirty="0" smtClean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數字</a:t>
            </a:r>
            <a:endParaRPr lang="zh-TW" altLang="zh-TW" sz="40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D02261-7E4F-0341-91B4-35C93F69F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5-6-1</a:t>
            </a:r>
            <a:r>
              <a:rPr lang="zh-TW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：設計人體體重健康判斷程式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BMI(Body Mass Index)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指數又稱身高體重指數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也稱身體質量指數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01C3B26-5C47-C542-87D6-AEEA1B263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741" y="3590358"/>
            <a:ext cx="7202517" cy="284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F83C78-DDA5-D846-81F5-9B171C9E2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3771"/>
            <a:ext cx="10515600" cy="5393192"/>
          </a:xfrm>
        </p:spPr>
        <p:txBody>
          <a:bodyPr>
            <a:normAutofit/>
          </a:bodyPr>
          <a:lstStyle/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 smtClean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ch5_7.py</a:t>
            </a:r>
            <a:r>
              <a:rPr lang="zh-TW" altLang="zh-TW" sz="2800" kern="1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人體健康體重指數判斷程式，這個程式會要求輸入身高與體重，然後計算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BMI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指數，由這個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BMI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指數判斷體重是否正常。</a:t>
            </a: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0DA17AD3-CE3D-29CF-B4E3-18B18816D1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550" y="2596112"/>
            <a:ext cx="8065514" cy="1360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665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F1A56D-CA8A-58C8-EFF6-B8CD79226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5192"/>
            <a:ext cx="10515600" cy="5691771"/>
          </a:xfrm>
        </p:spPr>
        <p:txBody>
          <a:bodyPr>
            <a:normAutofit/>
          </a:bodyPr>
          <a:lstStyle/>
          <a:p>
            <a:pPr algn="just"/>
            <a:r>
              <a:rPr lang="en-US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5-6-2</a:t>
            </a:r>
            <a:r>
              <a:rPr lang="zh-TW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：猜出</a:t>
            </a:r>
            <a:r>
              <a:rPr lang="en-US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0 ~ 7</a:t>
            </a:r>
            <a:r>
              <a:rPr lang="zh-TW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之間的數字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r>
              <a:rPr lang="zh-TW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 smtClean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ch5_8.py</a:t>
            </a:r>
            <a:r>
              <a:rPr lang="zh-TW" altLang="zh-TW" sz="2800" kern="100" dirty="0" smtClean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讀者心中先預想一個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0-7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之間的一個數字，這個專題會問讀者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個問題，請讀者真心回答，然後這個程式會回應讀者心中的數字。</a:t>
            </a: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05589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33C62874-4C34-C7F2-C16C-79B236D369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396" y="1043602"/>
            <a:ext cx="7469819" cy="420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194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83103C9A-5749-DD4D-6511-491E51903E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8981" y="1429596"/>
            <a:ext cx="9418784" cy="29075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2912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F1A56D-CA8A-58C8-EFF6-B8CD79226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5192"/>
            <a:ext cx="10515600" cy="5691771"/>
          </a:xfrm>
        </p:spPr>
        <p:txBody>
          <a:bodyPr>
            <a:normAutofit/>
          </a:bodyPr>
          <a:lstStyle/>
          <a:p>
            <a:pPr algn="just"/>
            <a:r>
              <a:rPr lang="zh-TW" altLang="en-US" sz="2800" b="1" kern="100" dirty="0" smtClean="0">
                <a:solidFill>
                  <a:srgbClr val="806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延伸題</a:t>
            </a:r>
            <a:r>
              <a:rPr lang="zh-TW" altLang="zh-TW" sz="2800" b="1" kern="100" dirty="0" smtClean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zh-TW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猜出</a:t>
            </a:r>
            <a:r>
              <a:rPr lang="en-US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0 ~ </a:t>
            </a:r>
            <a:r>
              <a:rPr lang="en-US" altLang="zh-TW" sz="2800" b="1" kern="100" dirty="0" smtClean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63</a:t>
            </a:r>
            <a:r>
              <a:rPr lang="zh-TW" altLang="zh-TW" sz="2800" b="1" kern="100" dirty="0" smtClean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之間</a:t>
            </a:r>
            <a:r>
              <a:rPr lang="zh-TW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的數字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r>
              <a:rPr lang="zh-TW" altLang="zh-TW" sz="2800" kern="100" dirty="0" smtClean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讀者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心中先預想一個</a:t>
            </a:r>
            <a:r>
              <a:rPr lang="en-US" altLang="zh-TW" sz="2800" kern="100" dirty="0" smtClean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0-63</a:t>
            </a:r>
            <a:r>
              <a:rPr lang="zh-TW" altLang="zh-TW" sz="2800" kern="100" dirty="0" smtClean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之間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的一個數字，這個專題會問</a:t>
            </a:r>
            <a:r>
              <a:rPr lang="zh-TW" altLang="zh-TW" sz="2800" kern="100" dirty="0" smtClean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讀者</a:t>
            </a:r>
            <a:r>
              <a:rPr lang="en-US" altLang="zh-TW" sz="2800" kern="100" dirty="0" smtClean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</a:t>
            </a:r>
            <a:r>
              <a:rPr lang="zh-TW" altLang="zh-TW" sz="2800" kern="100" dirty="0" smtClean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個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問題，請讀者真心回答，然後這個程式會回應讀者心中的數字。</a:t>
            </a: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5711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sz="4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1/6</a:t>
            </a:r>
            <a:endParaRPr lang="zh-TW" altLang="en-US" sz="4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049033820"/>
              </p:ext>
            </p:extLst>
          </p:nvPr>
        </p:nvGraphicFramePr>
        <p:xfrm>
          <a:off x="1825625" y="2116258"/>
          <a:ext cx="850424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3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4695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en-US" altLang="zh-TW" sz="4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/6</a:t>
            </a:r>
            <a:endParaRPr lang="zh-TW" altLang="en-US" sz="4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517258957"/>
              </p:ext>
            </p:extLst>
          </p:nvPr>
        </p:nvGraphicFramePr>
        <p:xfrm>
          <a:off x="1825625" y="2116258"/>
          <a:ext cx="850424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3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18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26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34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38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42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46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62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9698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sz="4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3/6</a:t>
            </a:r>
            <a:endParaRPr lang="zh-TW" altLang="en-US" sz="4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378308882"/>
              </p:ext>
            </p:extLst>
          </p:nvPr>
        </p:nvGraphicFramePr>
        <p:xfrm>
          <a:off x="1825625" y="2116258"/>
          <a:ext cx="850424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3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28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36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38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44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46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62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8624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sz="4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4/6</a:t>
            </a:r>
            <a:endParaRPr lang="zh-TW" altLang="en-US" sz="4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733200415"/>
              </p:ext>
            </p:extLst>
          </p:nvPr>
        </p:nvGraphicFramePr>
        <p:xfrm>
          <a:off x="1825625" y="2116258"/>
          <a:ext cx="850424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3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24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26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28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40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42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44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46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62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814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sz="4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5/6</a:t>
            </a:r>
            <a:endParaRPr lang="zh-TW" altLang="en-US" sz="4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41554002"/>
              </p:ext>
            </p:extLst>
          </p:nvPr>
        </p:nvGraphicFramePr>
        <p:xfrm>
          <a:off x="1825625" y="2116258"/>
          <a:ext cx="850424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3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16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18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24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26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28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48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62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341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sz="4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6/6</a:t>
            </a:r>
            <a:endParaRPr lang="zh-TW" altLang="en-US" sz="4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412250908"/>
              </p:ext>
            </p:extLst>
          </p:nvPr>
        </p:nvGraphicFramePr>
        <p:xfrm>
          <a:off x="1825625" y="2116258"/>
          <a:ext cx="850424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3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32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34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36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38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40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42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44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46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48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62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409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nded Design Yellow 16x9">
  <a:themeElements>
    <a:clrScheme name="Banded_Design_Yellow">
      <a:dk1>
        <a:srgbClr val="323232"/>
      </a:dk1>
      <a:lt1>
        <a:sysClr val="window" lastClr="FFFFFF"/>
      </a:lt1>
      <a:dk2>
        <a:srgbClr val="000000"/>
      </a:dk2>
      <a:lt2>
        <a:srgbClr val="E5E8E8"/>
      </a:lt2>
      <a:accent1>
        <a:srgbClr val="FFCD36"/>
      </a:accent1>
      <a:accent2>
        <a:srgbClr val="F29E3E"/>
      </a:accent2>
      <a:accent3>
        <a:srgbClr val="83C546"/>
      </a:accent3>
      <a:accent4>
        <a:srgbClr val="52C1CA"/>
      </a:accent4>
      <a:accent5>
        <a:srgbClr val="7384CA"/>
      </a:accent5>
      <a:accent6>
        <a:srgbClr val="DA6A89"/>
      </a:accent6>
      <a:hlink>
        <a:srgbClr val="88CACA"/>
      </a:hlink>
      <a:folHlink>
        <a:srgbClr val="91A7CA"/>
      </a:folHlink>
    </a:clrScheme>
    <a:fontScheme name="Microsoft JhengHei UI">
      <a:majorFont>
        <a:latin typeface="Microsoft JhengHei UI"/>
        <a:ea typeface="Microsoft JhengHei UI"/>
        <a:cs typeface=""/>
      </a:majorFont>
      <a:minorFont>
        <a:latin typeface="Microsoft JhengHei UI"/>
        <a:ea typeface="Microsoft JhengHei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_Design_Yellow_TP102900996" id="{AB4870CB-06BC-483D-898D-CB6E678212C7}" vid="{2ED2B3FE-BC13-4C0A-890E-57CB699DBA16}"/>
    </a:ext>
  </a:extLst>
</a:theme>
</file>

<file path=ppt/theme/theme2.xml><?xml version="1.0" encoding="utf-8"?>
<a:theme xmlns:a="http://schemas.openxmlformats.org/drawingml/2006/main" name="Office Theme">
  <a:themeElements>
    <a:clrScheme name="Banded_Design_Yellow">
      <a:dk1>
        <a:srgbClr val="595959"/>
      </a:dk1>
      <a:lt1>
        <a:sysClr val="window" lastClr="FFFFFF"/>
      </a:lt1>
      <a:dk2>
        <a:srgbClr val="323232"/>
      </a:dk2>
      <a:lt2>
        <a:srgbClr val="E5E8E8"/>
      </a:lt2>
      <a:accent1>
        <a:srgbClr val="FFCD36"/>
      </a:accent1>
      <a:accent2>
        <a:srgbClr val="F29E3E"/>
      </a:accent2>
      <a:accent3>
        <a:srgbClr val="83C546"/>
      </a:accent3>
      <a:accent4>
        <a:srgbClr val="52C1CA"/>
      </a:accent4>
      <a:accent5>
        <a:srgbClr val="7384CA"/>
      </a:accent5>
      <a:accent6>
        <a:srgbClr val="DA6A89"/>
      </a:accent6>
      <a:hlink>
        <a:srgbClr val="88CACA"/>
      </a:hlink>
      <a:folHlink>
        <a:srgbClr val="91A7CA"/>
      </a:folHlink>
    </a:clrScheme>
    <a:fontScheme name="Book Antiqua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Yellow">
      <a:dk1>
        <a:srgbClr val="595959"/>
      </a:dk1>
      <a:lt1>
        <a:sysClr val="window" lastClr="FFFFFF"/>
      </a:lt1>
      <a:dk2>
        <a:srgbClr val="323232"/>
      </a:dk2>
      <a:lt2>
        <a:srgbClr val="E5E8E8"/>
      </a:lt2>
      <a:accent1>
        <a:srgbClr val="FFCD36"/>
      </a:accent1>
      <a:accent2>
        <a:srgbClr val="F29E3E"/>
      </a:accent2>
      <a:accent3>
        <a:srgbClr val="83C546"/>
      </a:accent3>
      <a:accent4>
        <a:srgbClr val="52C1CA"/>
      </a:accent4>
      <a:accent5>
        <a:srgbClr val="7384CA"/>
      </a:accent5>
      <a:accent6>
        <a:srgbClr val="DA6A89"/>
      </a:accent6>
      <a:hlink>
        <a:srgbClr val="88CACA"/>
      </a:hlink>
      <a:folHlink>
        <a:srgbClr val="91A7CA"/>
      </a:folHlink>
    </a:clrScheme>
    <a:fontScheme name="Book Antiqua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866677B1-365E-411F-9971-C788BC2975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黃色橫紋設計簡報 (寬螢幕)</Template>
  <TotalTime>0</TotalTime>
  <Words>634</Words>
  <Application>Microsoft Office PowerPoint</Application>
  <PresentationFormat>寬螢幕</PresentationFormat>
  <Paragraphs>274</Paragraphs>
  <Slides>28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36" baseType="lpstr">
      <vt:lpstr>Microsoft JhengHei UI</vt:lpstr>
      <vt:lpstr>微軟正黑體</vt:lpstr>
      <vt:lpstr>Arial</vt:lpstr>
      <vt:lpstr>Book Antiqua</vt:lpstr>
      <vt:lpstr>Calibri</vt:lpstr>
      <vt:lpstr>Times New Roman</vt:lpstr>
      <vt:lpstr>Wingdings</vt:lpstr>
      <vt:lpstr>Banded Design Yellow 16x9</vt:lpstr>
      <vt:lpstr>流程控制</vt:lpstr>
      <vt:lpstr>5-1：關係運算子</vt:lpstr>
      <vt:lpstr>PowerPoint 簡報</vt:lpstr>
      <vt:lpstr>5-2：邏輯運算子</vt:lpstr>
      <vt:lpstr>PowerPoint 簡報</vt:lpstr>
      <vt:lpstr>PowerPoint 簡報</vt:lpstr>
      <vt:lpstr>5-3：if敘述</vt:lpstr>
      <vt:lpstr>PowerPoint 簡報</vt:lpstr>
      <vt:lpstr>5-4：if … else敘述</vt:lpstr>
      <vt:lpstr>PowerPoint 簡報</vt:lpstr>
      <vt:lpstr>PowerPoint 簡報</vt:lpstr>
      <vt:lpstr>PowerPoint 簡報</vt:lpstr>
      <vt:lpstr>PowerPoint 簡報</vt:lpstr>
      <vt:lpstr>5-5：if … elif … else敘述</vt:lpstr>
      <vt:lpstr>PowerPoint 簡報</vt:lpstr>
      <vt:lpstr>PowerPoint 簡報</vt:lpstr>
      <vt:lpstr>5-6：專題：BMI/猜數字</vt:lpstr>
      <vt:lpstr>PowerPoint 簡報</vt:lpstr>
      <vt:lpstr>PowerPoint 簡報</vt:lpstr>
      <vt:lpstr>PowerPoint 簡報</vt:lpstr>
      <vt:lpstr>PowerPoint 簡報</vt:lpstr>
      <vt:lpstr>PowerPoint 簡報</vt:lpstr>
      <vt:lpstr>1/6</vt:lpstr>
      <vt:lpstr>2/6</vt:lpstr>
      <vt:lpstr>3/6</vt:lpstr>
      <vt:lpstr>4/6</vt:lpstr>
      <vt:lpstr>5/6</vt:lpstr>
      <vt:lpstr>6/6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2021-08-20T14:38:34Z</dcterms:created>
  <dcterms:modified xsi:type="dcterms:W3CDTF">2025-10-08T22:59:02Z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TC029009979991</vt:lpwstr>
  </property>
</Properties>
</file>